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0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31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D5DE-BA16-1DFD-72AA-B38E18BC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1840F-6C1E-FC06-CDFD-E14BC5295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A67C6-CE3F-29D2-A2FD-72E14D2CC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B83A0-9AAE-B3F2-145D-330EC3593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83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8822" cy="51435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4638822" y="0"/>
            <a:ext cx="228600" cy="514350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5C"/>
                </a:solidFill>
              </a:rPr>
              <a:t>Arellano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9722" y="442167"/>
            <a:ext cx="2926080" cy="27432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09722" y="42713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Caso Práctico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2244" y="1402907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VIABILIDAD DE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APERTURA DE UNA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NUEVA SEDE CLÍNICA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EN LIMA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09722" y="4050792"/>
            <a:ext cx="2743200" cy="36576"/>
          </a:xfrm>
          <a:prstGeom prst="rect">
            <a:avLst/>
          </a:prstGeom>
          <a:solidFill>
            <a:srgbClr val="3BAFD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62244" y="415559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AFDA"/>
                </a:solidFill>
              </a:rPr>
              <a:t>PRESENTADOR: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370483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VALVERDE PUMA RICARDO EDWIN</a:t>
            </a:r>
            <a:endParaRPr lang="en-US" sz="1000" dirty="0"/>
          </a:p>
        </p:txBody>
      </p:sp>
      <p:pic>
        <p:nvPicPr>
          <p:cNvPr id="1026" name="Picture 2" descr="Group of two male patient female doctor happily consulting over digital tablet">
            <a:extLst>
              <a:ext uri="{FF2B5EF4-FFF2-40B4-BE49-F238E27FC236}">
                <a16:creationId xmlns:a16="http://schemas.microsoft.com/office/drawing/2014/main" id="{75F1787B-F1E8-85BA-B3B8-168F3647A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422" y="0"/>
            <a:ext cx="427657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EL PROBLEMA EN EL SISTEMA DE SALUD PERUANO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73152" cy="160020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Crecimiento acelerado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Urbanización e incremento poblacional generan mayor demanda de servicios de salud.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73152" cy="160020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Déficit de infraestructura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Solo 1.2 camas por c/1,000 hab. en Perú vs. 4.7 en promedio OCDE.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73152" cy="160020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Tiempos de espera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14 días promedio en hospitalización. El primer nivel solo atiende el 43% de la demanda.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617720" y="2880360"/>
            <a:ext cx="73152" cy="160020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7548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Alto gasto de bolsillo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Gasto en salud Perú: 5% del PBI vs. 9% OCDE. Gasto de bolsillo &gt;30% del total.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Fuentes: INEI Compendio Estadístico 2022 | OCDE Health Statistics 2023 | SUSALUD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DIAGNÓSTICO: ESTABLECIMIENTOS DE SALUD EN LIMA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Establecimientos por Zona Lima Metropolitana (SUSALUD 2024–2025)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880590"/>
              </p:ext>
            </p:extLst>
          </p:nvPr>
        </p:nvGraphicFramePr>
        <p:xfrm>
          <a:off x="365760" y="1280160"/>
          <a:ext cx="5029200" cy="3072384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Zona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Establecimientos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Prom. por Distrito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Lima Centro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4,028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Lima Norte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1,864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233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Lima Este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1,723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5C"/>
                          </a:solidFill>
                        </a:rPr>
                        <a:t>Lima Sur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1,348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      112 ⚠️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Callao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882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9,845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Fuente: SUSALUD – RENIPRESS 2024-2025</a:t>
            </a:r>
            <a:endParaRPr lang="en-US" sz="800" dirty="0"/>
          </a:p>
        </p:txBody>
      </p:sp>
      <p:pic>
        <p:nvPicPr>
          <p:cNvPr id="1026" name="Picture 2" descr="Imágenes de Enfermera ayudando paciente - Descarga gratuita en Freepik">
            <a:extLst>
              <a:ext uri="{FF2B5EF4-FFF2-40B4-BE49-F238E27FC236}">
                <a16:creationId xmlns:a16="http://schemas.microsoft.com/office/drawing/2014/main" id="{4B23B95C-3880-9247-B523-A93971218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489" y="914400"/>
            <a:ext cx="2339511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B45B0C-ED0B-7099-7919-CE4AEAB1D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82D16C-351A-9C1F-E74C-486CA8BA91E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7F47A6-009C-2A38-D542-CB70E2F0C8AF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DIAGNÓSTICO: ESTABLECIMIENTOS DE SALUD EN LIMA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C73C3A-2EBB-BA01-F08C-BA7FD8EF6E09}"/>
              </a:ext>
            </a:extLst>
          </p:cNvPr>
          <p:cNvSpPr/>
          <p:nvPr/>
        </p:nvSpPr>
        <p:spPr>
          <a:xfrm>
            <a:off x="548640" y="9271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Establecimientos por Zona Lima Metropolitana (SUSALUD 2024–2025)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BF2721-7CC5-2FCC-E40C-F6ADFCCDE6EC}"/>
              </a:ext>
            </a:extLst>
          </p:cNvPr>
          <p:cNvSpPr/>
          <p:nvPr/>
        </p:nvSpPr>
        <p:spPr>
          <a:xfrm>
            <a:off x="5669280" y="1005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Lima Sur tiene el promedio más bajo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de establecimientos por distrito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0383E3C-922E-C626-3D8F-7DEBF575CC9F}"/>
              </a:ext>
            </a:extLst>
          </p:cNvPr>
          <p:cNvSpPr/>
          <p:nvPr/>
        </p:nvSpPr>
        <p:spPr>
          <a:xfrm>
            <a:off x="557784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Lima Centro</a:t>
            </a:r>
            <a:endParaRPr lang="en-US" sz="10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41F584A-55AE-6C5F-B6E0-4C2EEAB96238}"/>
              </a:ext>
            </a:extLst>
          </p:cNvPr>
          <p:cNvSpPr/>
          <p:nvPr/>
        </p:nvSpPr>
        <p:spPr>
          <a:xfrm>
            <a:off x="7040880" y="1773936"/>
            <a:ext cx="1767405" cy="27432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2BC51D1-CBE7-859A-CBF7-F0627C78E241}"/>
              </a:ext>
            </a:extLst>
          </p:cNvPr>
          <p:cNvSpPr/>
          <p:nvPr/>
        </p:nvSpPr>
        <p:spPr>
          <a:xfrm>
            <a:off x="8881437" y="1728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5FA8"/>
                </a:solidFill>
              </a:rPr>
              <a:t>224</a:t>
            </a:r>
            <a:endParaRPr lang="en-US"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2817FD8-3BA2-00FE-CCF7-7967207A7E1E}"/>
              </a:ext>
            </a:extLst>
          </p:cNvPr>
          <p:cNvSpPr/>
          <p:nvPr/>
        </p:nvSpPr>
        <p:spPr>
          <a:xfrm>
            <a:off x="557784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Lima Norte</a:t>
            </a:r>
            <a:endParaRPr lang="en-US" sz="10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34329E6-B591-F6A0-59CA-119F17DF5BB9}"/>
              </a:ext>
            </a:extLst>
          </p:cNvPr>
          <p:cNvSpPr/>
          <p:nvPr/>
        </p:nvSpPr>
        <p:spPr>
          <a:xfrm>
            <a:off x="7040880" y="2276856"/>
            <a:ext cx="1681089" cy="27432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6961FF7-8AAD-899F-020E-77903B9E87E9}"/>
              </a:ext>
            </a:extLst>
          </p:cNvPr>
          <p:cNvSpPr/>
          <p:nvPr/>
        </p:nvSpPr>
        <p:spPr>
          <a:xfrm>
            <a:off x="886968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5FA8"/>
                </a:solidFill>
              </a:rPr>
              <a:t>233</a:t>
            </a:r>
            <a:endParaRPr lang="en-US" sz="1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539A98D-93B8-4D51-7196-59BFFA775FA1}"/>
              </a:ext>
            </a:extLst>
          </p:cNvPr>
          <p:cNvSpPr/>
          <p:nvPr/>
        </p:nvSpPr>
        <p:spPr>
          <a:xfrm>
            <a:off x="557784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Lima Este</a:t>
            </a:r>
            <a:endParaRPr lang="en-US" sz="10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62B9E8B-794C-4FF2-8714-6D038C2948B4}"/>
              </a:ext>
            </a:extLst>
          </p:cNvPr>
          <p:cNvSpPr/>
          <p:nvPr/>
        </p:nvSpPr>
        <p:spPr>
          <a:xfrm>
            <a:off x="7040881" y="2779776"/>
            <a:ext cx="1554480" cy="27432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36A9397-257A-18ED-D34E-E671E5BB55BC}"/>
              </a:ext>
            </a:extLst>
          </p:cNvPr>
          <p:cNvSpPr/>
          <p:nvPr/>
        </p:nvSpPr>
        <p:spPr>
          <a:xfrm>
            <a:off x="8721969" y="27294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5FA8"/>
                </a:solidFill>
              </a:rPr>
              <a:t>215</a:t>
            </a:r>
            <a:endParaRPr lang="en-US" sz="1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1AFBC67-C9B1-01AF-E451-54EE5F562DD9}"/>
              </a:ext>
            </a:extLst>
          </p:cNvPr>
          <p:cNvSpPr/>
          <p:nvPr/>
        </p:nvSpPr>
        <p:spPr>
          <a:xfrm>
            <a:off x="557784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Lima Sur</a:t>
            </a:r>
            <a:endParaRPr lang="en-US" sz="10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20F5667-E6D4-C741-44BC-45D7A1DD5282}"/>
              </a:ext>
            </a:extLst>
          </p:cNvPr>
          <p:cNvSpPr/>
          <p:nvPr/>
        </p:nvSpPr>
        <p:spPr>
          <a:xfrm>
            <a:off x="7040880" y="3282696"/>
            <a:ext cx="1264485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20B5469-E032-CC43-43D7-6262F8578B42}"/>
              </a:ext>
            </a:extLst>
          </p:cNvPr>
          <p:cNvSpPr/>
          <p:nvPr/>
        </p:nvSpPr>
        <p:spPr>
          <a:xfrm>
            <a:off x="8351085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112</a:t>
            </a:r>
            <a:endParaRPr lang="en-US" sz="1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CFA65BC-4BFB-40E8-E530-485E668FBDFF}"/>
              </a:ext>
            </a:extLst>
          </p:cNvPr>
          <p:cNvSpPr/>
          <p:nvPr/>
        </p:nvSpPr>
        <p:spPr>
          <a:xfrm>
            <a:off x="557784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Callao</a:t>
            </a:r>
            <a:endParaRPr lang="en-US" sz="10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92ED18B-9E85-6949-BE84-782D5AFEE7A1}"/>
              </a:ext>
            </a:extLst>
          </p:cNvPr>
          <p:cNvSpPr/>
          <p:nvPr/>
        </p:nvSpPr>
        <p:spPr>
          <a:xfrm>
            <a:off x="7040880" y="3785616"/>
            <a:ext cx="1371600" cy="27432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0935DCB-09B3-E6B1-66A1-1E08A56F73A6}"/>
              </a:ext>
            </a:extLst>
          </p:cNvPr>
          <p:cNvSpPr/>
          <p:nvPr/>
        </p:nvSpPr>
        <p:spPr>
          <a:xfrm>
            <a:off x="8469957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8CA0"/>
                </a:solidFill>
              </a:rPr>
              <a:t>126</a:t>
            </a:r>
            <a:endParaRPr lang="en-US" sz="1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EA27DE9-B53F-11A4-B3B1-E36D6CE943F8}"/>
              </a:ext>
            </a:extLst>
          </p:cNvPr>
          <p:cNvSpPr/>
          <p:nvPr/>
        </p:nvSpPr>
        <p:spPr>
          <a:xfrm>
            <a:off x="5577840" y="4297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Promedio de establecimientos/distrito</a:t>
            </a:r>
            <a:endParaRPr lang="en-US" sz="9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0309966-3379-82E4-A704-692FE8858706}"/>
              </a:ext>
            </a:extLst>
          </p:cNvPr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Fuente: </a:t>
            </a:r>
            <a:r>
              <a:rPr lang="en-US" sz="800" i="1" dirty="0" err="1">
                <a:solidFill>
                  <a:srgbClr val="64748B"/>
                </a:solidFill>
              </a:rPr>
              <a:t>Elaboración</a:t>
            </a:r>
            <a:r>
              <a:rPr lang="en-US" sz="800" i="1" dirty="0">
                <a:solidFill>
                  <a:srgbClr val="64748B"/>
                </a:solidFill>
              </a:rPr>
              <a:t> Propia-</a:t>
            </a:r>
            <a:r>
              <a:rPr lang="en-US" sz="800" i="1" dirty="0" err="1">
                <a:solidFill>
                  <a:srgbClr val="64748B"/>
                </a:solidFill>
              </a:rPr>
              <a:t>Susalud</a:t>
            </a:r>
            <a:endParaRPr lang="en-US" sz="8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A88A764E-CDF9-E631-5B45-F38BA42E2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52" y="1214120"/>
            <a:ext cx="4302205" cy="368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7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VOLUMEN DE ATENCIONES EN LIMA SUR (2024–2025)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829491" cy="333052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834640" cy="41148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🏃 Atención Ambulatoria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Chorrillos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2285837" cy="201168"/>
          </a:xfrm>
          <a:prstGeom prst="rect">
            <a:avLst/>
          </a:prstGeom>
          <a:solidFill>
            <a:srgbClr val="1D5FA8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2560320" y="1699817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5FA8"/>
                </a:solidFill>
              </a:rPr>
              <a:t>1,020,482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Villa El Salvador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368296"/>
            <a:ext cx="2114782" cy="201168"/>
          </a:xfrm>
          <a:prstGeom prst="rect">
            <a:avLst/>
          </a:prstGeom>
          <a:solidFill>
            <a:srgbClr val="1D5FA8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2434822" y="23682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5FA8"/>
                </a:solidFill>
              </a:rPr>
              <a:t>928,433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171" y="2751729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San Bartolo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9527" y="2994924"/>
            <a:ext cx="104203" cy="201168"/>
          </a:xfrm>
          <a:prstGeom prst="rect">
            <a:avLst/>
          </a:prstGeom>
          <a:solidFill>
            <a:srgbClr val="1D5FA8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39450" y="2966877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5FA8"/>
                </a:solidFill>
              </a:rPr>
              <a:t>29,338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171" y="3295357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Pucusana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8323" y="3614166"/>
            <a:ext cx="67309" cy="201168"/>
          </a:xfrm>
          <a:prstGeom prst="rect">
            <a:avLst/>
          </a:prstGeom>
          <a:solidFill>
            <a:srgbClr val="1D5FA8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93730" y="358752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5FA8"/>
                </a:solidFill>
              </a:rPr>
              <a:t>17,090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960120"/>
            <a:ext cx="2829491" cy="333052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3200400" y="960120"/>
            <a:ext cx="2834640" cy="4114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329184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🏨 Atención Hospitalaria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Villa El Salvador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1709928"/>
            <a:ext cx="2282190" cy="201168"/>
          </a:xfrm>
          <a:prstGeom prst="rect">
            <a:avLst/>
          </a:prstGeom>
          <a:solidFill>
            <a:srgbClr val="1A3A5C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5619750" y="17099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51,399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2121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Chorrillos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368296"/>
            <a:ext cx="1977390" cy="201168"/>
          </a:xfrm>
          <a:prstGeom prst="rect">
            <a:avLst/>
          </a:prstGeom>
          <a:solidFill>
            <a:srgbClr val="1A3A5C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5314950" y="23682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6,403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27797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San Bartolo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3026664"/>
            <a:ext cx="137160" cy="201168"/>
          </a:xfrm>
          <a:prstGeom prst="rect">
            <a:avLst/>
          </a:prstGeom>
          <a:solidFill>
            <a:srgbClr val="1A3A5C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3474720" y="30266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57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4381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4748B"/>
                </a:solidFill>
              </a:rPr>
              <a:t>Pucusana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3685032"/>
            <a:ext cx="125730" cy="201168"/>
          </a:xfrm>
          <a:prstGeom prst="rect">
            <a:avLst/>
          </a:prstGeom>
          <a:solidFill>
            <a:srgbClr val="1A3A5C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3463290" y="3685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</a:rPr>
              <a:t>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960120"/>
            <a:ext cx="2834640" cy="333052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1" name="Shape 39"/>
          <p:cNvSpPr/>
          <p:nvPr/>
        </p:nvSpPr>
        <p:spPr>
          <a:xfrm>
            <a:off x="6217920" y="960120"/>
            <a:ext cx="283464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2" name="Text 40"/>
          <p:cNvSpPr/>
          <p:nvPr/>
        </p:nvSpPr>
        <p:spPr>
          <a:xfrm>
            <a:off x="630936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🚑 Emergencias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1463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SJM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1709928"/>
            <a:ext cx="2280851" cy="201168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5" name="Text 43"/>
          <p:cNvSpPr/>
          <p:nvPr/>
        </p:nvSpPr>
        <p:spPr>
          <a:xfrm>
            <a:off x="8635931" y="17099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506,978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2121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Villa El Salvador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2368296"/>
            <a:ext cx="1498078" cy="201168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8" name="Text 46"/>
          <p:cNvSpPr/>
          <p:nvPr/>
        </p:nvSpPr>
        <p:spPr>
          <a:xfrm>
            <a:off x="7853158" y="23682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370,594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27797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V.M. Triunfo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3026664"/>
            <a:ext cx="413734" cy="201168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1" name="Text 49"/>
          <p:cNvSpPr/>
          <p:nvPr/>
        </p:nvSpPr>
        <p:spPr>
          <a:xfrm>
            <a:off x="6768814" y="30266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361,731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34381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Chorrillos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09360" y="3685032"/>
            <a:ext cx="47888" cy="201168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4" name="Text 52"/>
          <p:cNvSpPr/>
          <p:nvPr/>
        </p:nvSpPr>
        <p:spPr>
          <a:xfrm>
            <a:off x="6402968" y="3685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67,189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9170" y="4508168"/>
            <a:ext cx="8691949" cy="42502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9" name="Text 57"/>
          <p:cNvSpPr/>
          <p:nvPr/>
        </p:nvSpPr>
        <p:spPr>
          <a:xfrm>
            <a:off x="345632" y="4605674"/>
            <a:ext cx="85610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📌  Lima Sur: 12,2% de emergencias de Lima (1,315,106) pero solo 3,6% de ingresos hospitalarios (113,766). Ratio 11,6x: la mayor brecha de toda Lima Metropolitana.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4320" y="4983480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</a:rPr>
              <a:t>Fuente: SUSALUD – Datos de Prestaciones 2024-2025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CAMAS HOSPITALARIAS EN LIMA SUR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Estado de camas (Operativas / Disponibles / Ocupadas) — SUSALUD 2024–2025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04967"/>
              </p:ext>
            </p:extLst>
          </p:nvPr>
        </p:nvGraphicFramePr>
        <p:xfrm>
          <a:off x="365760" y="1280160"/>
          <a:ext cx="530352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Distrito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Operativas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Disponibles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Ocupadas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San Juan de Miraflores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171,917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55,520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116,397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5FA8"/>
                          </a:solidFill>
                        </a:rPr>
                        <a:t>Villa El Salvador ⭐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73,945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16,951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56,994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Chorrillos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32,345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19,872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/>
                        <a:t>12,473</a:t>
                      </a:r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Otros (Lima Sur)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Bajo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943600" y="123444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4"/>
          <p:cNvSpPr/>
          <p:nvPr/>
        </p:nvSpPr>
        <p:spPr>
          <a:xfrm>
            <a:off x="5943600" y="1234440"/>
            <a:ext cx="64008" cy="10972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608076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⚠️ Brecha crítica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6184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Solo 40 camas </a:t>
            </a:r>
            <a:r>
              <a:rPr lang="en-US" sz="1000" dirty="0" err="1">
                <a:solidFill>
                  <a:srgbClr val="64748B"/>
                </a:solidFill>
              </a:rPr>
              <a:t>Essalud</a:t>
            </a:r>
            <a:r>
              <a:rPr lang="en-US" sz="1000" dirty="0">
                <a:solidFill>
                  <a:srgbClr val="64748B"/>
                </a:solidFill>
              </a:rPr>
              <a:t> para 800,000 </a:t>
            </a:r>
            <a:r>
              <a:rPr lang="en-US" sz="1000" dirty="0" err="1">
                <a:solidFill>
                  <a:srgbClr val="64748B"/>
                </a:solidFill>
              </a:rPr>
              <a:t>asegurados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en</a:t>
            </a:r>
            <a:r>
              <a:rPr lang="en-US" sz="1000" dirty="0">
                <a:solidFill>
                  <a:srgbClr val="64748B"/>
                </a:solidFill>
              </a:rPr>
              <a:t> Lima Sur (VES, VMT, Chorrillos, SJM).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46888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5943600" y="2468880"/>
            <a:ext cx="64008" cy="109728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6007608" y="241505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CA0"/>
                </a:solidFill>
              </a:rPr>
              <a:t>🔑 Oportunidad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8117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73,945 camas operativas en VES con tasa de ocupación 77,1% sin oferta privada de calidad que absorba la demanda. La tasa de ocupación global de Lima Sur es 66,9 % (zona media), reflejo de la escasez de oferta formalizada, no de baja demanda.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70332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2"/>
          <p:cNvSpPr/>
          <p:nvPr/>
        </p:nvSpPr>
        <p:spPr>
          <a:xfrm>
            <a:off x="5943600" y="3703320"/>
            <a:ext cx="64008" cy="109728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080760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A8"/>
                </a:solidFill>
              </a:rPr>
              <a:t>📊 Demanda real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40873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Lima Sur: 372,601 camas operativas totales, la menor de todas las zonas. Lima Centro tiene 4,176,671 — 9x más.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Fuentes: SUSALUD 2024-2025 | EsSalud – El Comercio (2013) | INEI Compendio 2022</a:t>
            </a:r>
            <a:endParaRPr lang="en-US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AAC1958-BA74-A363-1466-B53B53E84A03}"/>
              </a:ext>
            </a:extLst>
          </p:cNvPr>
          <p:cNvSpPr txBox="1"/>
          <p:nvPr/>
        </p:nvSpPr>
        <p:spPr>
          <a:xfrm>
            <a:off x="5943600" y="2058067"/>
            <a:ext cx="2364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64748B"/>
                </a:solidFill>
              </a:rPr>
              <a:t>(EsSalud, 2013 — fuente: El Comercio)</a:t>
            </a:r>
            <a:endParaRPr lang="es-PE" sz="10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¿POR QUÉ LIMA SUR ES LA ZONA MÁS VIABLE?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Comparación por indicador clave de necesidad insatisfecha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591478"/>
              </p:ext>
            </p:extLst>
          </p:nvPr>
        </p:nvGraphicFramePr>
        <p:xfrm>
          <a:off x="274320" y="1280160"/>
          <a:ext cx="8595360" cy="332841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Lima Centro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Lima Norte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Lima Este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Lima Sur ✅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C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Establec. / distrito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112 🔴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Hospitalaria total zona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2,5M (81,1%)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161K (5,2%)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165K (5,3%)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113K (3,6%) 🔴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Ambulatoria total zona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21,4M (49,4%)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5,7M (13,1%)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4,4M (10,1%)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3,8M (8,9%) ⚠️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Clínicas privadas de calidad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Media-baja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Muy baja 🔴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Pob. NSE B/C sin cobertura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Baja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Alta ✅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Potencial de mercado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Saturado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Competido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Alto ✅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Fuentes: SUSALUD 2024-2025 | Gestión.pe | Elaboración propia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PROPUESTA: NUEVA SEDE CLÍNICA EN LIMA SUR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5020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Situación Actual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Nueva Clínica Lima Sur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C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Ubicación estratégica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Sin oferta clínica privada de calidad en VES / VMT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5FA8"/>
                          </a:solidFill>
                        </a:rPr>
                        <a:t>Sede en Villa El Salvador, acceso a VES, VMT y SJM (~1.2M hab.)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Infraestructura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1.2 camas/1,000 hab. Perú vs 4.7 OCDE. Lima Sur por debajo del promedio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5FA8"/>
                          </a:solidFill>
                        </a:rPr>
                        <a:t>+40 camas hospitalarias, 6 camas UCI, 30 consultorios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Tiempos de espera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 días promedio en hospitalización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5FA8"/>
                          </a:solidFill>
                        </a:rPr>
                        <a:t>Reducción a 11 días con mayor capacidad instalada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Acceso NSE B y 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68% Lima (7.1M pers.) con gasto de bolsillo alto (&gt;30%)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5FA8"/>
                          </a:solidFill>
                        </a:rPr>
                        <a:t>Seguros mixtos (SIS + privado) accesibles para clase media Lima Sur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Digitalización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Atención primaria poco digitalizada en la zona sur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D5FA8"/>
                          </a:solidFill>
                        </a:rPr>
                        <a:t>Citas digitales, app, expediente médico electrónico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Fuente: Elaboración </a:t>
            </a:r>
            <a:r>
              <a:rPr lang="en-US" sz="800" i="1" dirty="0" err="1">
                <a:solidFill>
                  <a:srgbClr val="64748B"/>
                </a:solidFill>
              </a:rPr>
              <a:t>propia</a:t>
            </a:r>
            <a:r>
              <a:rPr lang="en-US" sz="800" i="1" dirty="0">
                <a:solidFill>
                  <a:srgbClr val="64748B"/>
                </a:solidFill>
              </a:rPr>
              <a:t> en base a SUSALUD, INEI, MINSA 2024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SEGMENTO OBJETIVO Y MODELO DE INGRESOS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73152" cy="96012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5FA8"/>
                </a:solidFill>
              </a:rPr>
              <a:t>NSE B y 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Seguros privados, pago directo, mixtos (SIS + privado)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234440"/>
            <a:ext cx="1371600" cy="594360"/>
          </a:xfrm>
          <a:prstGeom prst="rect">
            <a:avLst/>
          </a:prstGeom>
          <a:solidFill>
            <a:srgbClr val="1D5F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315200" y="1234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60–65%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1234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pacientes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73152" cy="96012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57200" y="2258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8CA0"/>
                </a:solidFill>
              </a:rPr>
              <a:t>NSE 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624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SIS – Seguro Integral de Salud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2331720"/>
            <a:ext cx="1371600" cy="59436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315200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25–30%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0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pacientes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85953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73152" cy="9601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57200" y="3355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NSE 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721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SIS básico – impacto social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3429000"/>
            <a:ext cx="1371600" cy="59436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7315200" y="3429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0" y="3429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pacientes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411480" y="43434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💡  Modelo Mixto: Estado reembolsa atenciones SIS | Pacientes privados NSE B/C generan el mayor margen | Equilibrio entre rentabilidad e impacto social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Header"/>
          <p:cNvSpPr>
            <a:spLocks noGrp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s-PE" sz="1800" b="1" dirty="0">
                <a:solidFill>
                  <a:srgbClr val="FFFFFF"/>
                </a:solidFill>
              </a:rPr>
              <a:t>PRECEDENTES: CLÍNICAS QUE YA LO HICIERON</a:t>
            </a:r>
          </a:p>
        </p:txBody>
      </p:sp>
      <p:sp>
        <p:nvSpPr>
          <p:cNvPr id="3" name="Sub"/>
          <p:cNvSpPr/>
          <p:nvPr/>
        </p:nvSpPr>
        <p:spPr>
          <a:xfrm>
            <a:off x="228600" y="685800"/>
            <a:ext cx="8686800" cy="3429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s-PE" sz="1100" b="0" i="1" dirty="0">
                <a:solidFill>
                  <a:srgbClr val="4A6FA5"/>
                </a:solidFill>
              </a:rPr>
              <a:t>Modelos privados accesibles que validaron la viabilidad en zonas periféricas de Lima — referencia directa para Lima Sur</a:t>
            </a:r>
          </a:p>
        </p:txBody>
      </p:sp>
      <p:sp>
        <p:nvSpPr>
          <p:cNvPr id="4" name="Card1"/>
          <p:cNvSpPr/>
          <p:nvPr/>
        </p:nvSpPr>
        <p:spPr>
          <a:xfrm>
            <a:off x="114300" y="1085000"/>
            <a:ext cx="2743200" cy="3657600"/>
          </a:xfrm>
          <a:prstGeom prst="rect">
            <a:avLst/>
          </a:prstGeom>
          <a:solidFill>
            <a:srgbClr val="EEF3FA"/>
          </a:solidFill>
          <a:ln w="19050">
            <a:solidFill>
              <a:srgbClr val="4A6FA5"/>
            </a:solidFill>
          </a:ln>
        </p:spPr>
        <p:txBody>
          <a:bodyPr wrap="square" lIns="91440" tIns="91440" rIns="91440" bIns="91440"/>
          <a:lstStyle/>
          <a:p>
            <a:pPr algn="ctr">
              <a:buNone/>
            </a:pPr>
            <a:r>
              <a:rPr lang="es-PE" sz="1400" b="1" dirty="0">
                <a:solidFill>
                  <a:srgbClr val="1B2A4A"/>
                </a:solidFill>
              </a:rPr>
              <a:t>🏥 Clínica Aviva</a:t>
            </a:r>
          </a:p>
          <a:p>
            <a:pPr algn="ctr">
              <a:buNone/>
            </a:pPr>
            <a:r>
              <a:rPr lang="es-PE" sz="1000" b="1" dirty="0">
                <a:solidFill>
                  <a:srgbClr val="4A6FA5"/>
                </a:solidFill>
              </a:rPr>
              <a:t>Lima Norte – Los Olivos, 2019</a:t>
            </a:r>
          </a:p>
          <a:p>
            <a:pPr algn="l">
              <a:buNone/>
            </a:pPr>
            <a:r>
              <a:rPr lang="es-PE" sz="900" b="1" dirty="0">
                <a:solidFill>
                  <a:srgbClr val="2E7D32"/>
                </a:solidFill>
              </a:rPr>
              <a:t>✅ 560,000+ pacientes acumulados</a:t>
            </a:r>
          </a:p>
          <a:p>
            <a:pPr algn="l">
              <a:buNone/>
            </a:pPr>
            <a:r>
              <a:rPr lang="es-PE" sz="900" dirty="0">
                <a:solidFill>
                  <a:srgbClr val="333333"/>
                </a:solidFill>
              </a:rPr>
              <a:t>✅ Inversión inicial: S/ 50M+</a:t>
            </a:r>
          </a:p>
          <a:p>
            <a:pPr algn="l">
              <a:buNone/>
            </a:pPr>
            <a:r>
              <a:rPr lang="es-PE" sz="900" dirty="0">
                <a:solidFill>
                  <a:srgbClr val="333333"/>
                </a:solidFill>
              </a:rPr>
              <a:t>✅ 25% crecimiento pacientes 2024</a:t>
            </a:r>
          </a:p>
          <a:p>
            <a:pPr algn="l">
              <a:buNone/>
            </a:pPr>
            <a:r>
              <a:rPr lang="es-PE" sz="900" dirty="0">
                <a:solidFill>
                  <a:srgbClr val="333333"/>
                </a:solidFill>
              </a:rPr>
              <a:t>✅ Atiende SIS + EsSalud + privado</a:t>
            </a:r>
          </a:p>
          <a:p>
            <a:pPr algn="l">
              <a:buNone/>
            </a:pPr>
            <a:r>
              <a:rPr lang="es-PE" sz="900" dirty="0">
                <a:solidFill>
                  <a:srgbClr val="333333"/>
                </a:solidFill>
              </a:rPr>
              <a:t>✅ Expandida a 5 sedes en 7 años</a:t>
            </a:r>
          </a:p>
          <a:p>
            <a:pPr algn="l">
              <a:buNone/>
            </a:pPr>
            <a:r>
              <a:rPr lang="es-PE" sz="850" b="1" i="1" dirty="0">
                <a:solidFill>
                  <a:srgbClr val="C62828"/>
                </a:solidFill>
              </a:rPr>
              <a:t>⚡ Lima Sur = única zona sin expansión Aviva</a:t>
            </a:r>
          </a:p>
        </p:txBody>
      </p:sp>
      <p:sp>
        <p:nvSpPr>
          <p:cNvPr id="5" name="Card2"/>
          <p:cNvSpPr/>
          <p:nvPr/>
        </p:nvSpPr>
        <p:spPr>
          <a:xfrm>
            <a:off x="3000600" y="1085000"/>
            <a:ext cx="2743200" cy="3657600"/>
          </a:xfrm>
          <a:prstGeom prst="rect">
            <a:avLst/>
          </a:prstGeom>
          <a:solidFill>
            <a:srgbClr val="EEF3FA"/>
          </a:solidFill>
          <a:ln w="19050">
            <a:solidFill>
              <a:srgbClr val="4A6FA5"/>
            </a:solidFill>
          </a:ln>
        </p:spPr>
        <p:txBody>
          <a:bodyPr wrap="square" lIns="91440" tIns="91440" rIns="91440" bIns="91440"/>
          <a:lstStyle/>
          <a:p>
            <a:pPr algn="ctr">
              <a:buNone/>
            </a:pPr>
            <a:r>
              <a:rPr lang="es-PE" sz="1400" b="1" dirty="0">
                <a:solidFill>
                  <a:srgbClr val="1B2A4A"/>
                </a:solidFill>
              </a:rPr>
              <a:t>🏥 Aviva Lima Centro</a:t>
            </a:r>
          </a:p>
          <a:p>
            <a:pPr algn="ctr">
              <a:buNone/>
            </a:pPr>
            <a:r>
              <a:rPr lang="es-PE" sz="1000" b="1" dirty="0">
                <a:solidFill>
                  <a:srgbClr val="4A6FA5"/>
                </a:solidFill>
              </a:rPr>
              <a:t>Lima Centro, 2025</a:t>
            </a:r>
          </a:p>
          <a:p>
            <a:pPr algn="l">
              <a:buNone/>
            </a:pPr>
            <a:r>
              <a:rPr lang="es-PE" sz="900" b="1" dirty="0">
                <a:solidFill>
                  <a:srgbClr val="2E7D32"/>
                </a:solidFill>
              </a:rPr>
              <a:t>✅ Inversión: S/ 90M</a:t>
            </a:r>
          </a:p>
          <a:p>
            <a:pPr algn="l">
              <a:buNone/>
            </a:pPr>
            <a:r>
              <a:rPr lang="es-PE" sz="900" dirty="0">
                <a:solidFill>
                  <a:srgbClr val="333333"/>
                </a:solidFill>
              </a:rPr>
              <a:t>✅ 28 consultorios, 60 camas</a:t>
            </a:r>
          </a:p>
          <a:p>
            <a:pPr algn="l">
              <a:buNone/>
            </a:pPr>
            <a:r>
              <a:rPr lang="es-PE" sz="900" dirty="0">
                <a:solidFill>
                  <a:srgbClr val="333333"/>
                </a:solidFill>
              </a:rPr>
              <a:t>✅ Emergencias 24/7, 30+ especialidades</a:t>
            </a:r>
          </a:p>
          <a:p>
            <a:pPr algn="l">
              <a:buNone/>
            </a:pPr>
            <a:r>
              <a:rPr lang="es-PE" sz="900" dirty="0">
                <a:solidFill>
                  <a:srgbClr val="333333"/>
                </a:solidFill>
              </a:rPr>
              <a:t>✅ Proyecta 200,000 pacientes/año</a:t>
            </a:r>
          </a:p>
          <a:p>
            <a:pPr algn="l">
              <a:buNone/>
            </a:pPr>
            <a:r>
              <a:rPr lang="es-PE" sz="900" dirty="0">
                <a:solidFill>
                  <a:srgbClr val="333333"/>
                </a:solidFill>
              </a:rPr>
              <a:t>✅ Modelo: democratizar salud privada</a:t>
            </a:r>
          </a:p>
          <a:p>
            <a:pPr algn="l">
              <a:buNone/>
            </a:pPr>
            <a:r>
              <a:rPr lang="es-PE" sz="850" b="1" i="1" dirty="0">
                <a:solidFill>
                  <a:srgbClr val="1B5E20"/>
                </a:solidFill>
              </a:rPr>
              <a:t>📈 Valida la escalabilidad del modelo privado accesible</a:t>
            </a:r>
          </a:p>
        </p:txBody>
      </p:sp>
      <p:sp>
        <p:nvSpPr>
          <p:cNvPr id="6" name="Card3"/>
          <p:cNvSpPr/>
          <p:nvPr/>
        </p:nvSpPr>
        <p:spPr>
          <a:xfrm>
            <a:off x="5886900" y="1085000"/>
            <a:ext cx="3143000" cy="1714500"/>
          </a:xfrm>
          <a:prstGeom prst="rect">
            <a:avLst/>
          </a:prstGeom>
          <a:solidFill>
            <a:srgbClr val="EEF3FA"/>
          </a:solidFill>
          <a:ln w="19050">
            <a:solidFill>
              <a:srgbClr val="4A6FA5"/>
            </a:solidFill>
          </a:ln>
        </p:spPr>
        <p:txBody>
          <a:bodyPr wrap="square" lIns="91440" tIns="91440" rIns="91440" bIns="91440"/>
          <a:lstStyle/>
          <a:p>
            <a:pPr algn="ctr">
              <a:buNone/>
            </a:pPr>
            <a:r>
              <a:rPr lang="es-PE" sz="1200" b="1" dirty="0">
                <a:solidFill>
                  <a:srgbClr val="1B2A4A"/>
                </a:solidFill>
              </a:rPr>
              <a:t>⛪ Clínica San Juan de Dios</a:t>
            </a:r>
          </a:p>
          <a:p>
            <a:pPr algn="ctr">
              <a:buNone/>
            </a:pPr>
            <a:r>
              <a:rPr lang="es-PE" sz="950" b="1" dirty="0">
                <a:solidFill>
                  <a:srgbClr val="4A6FA5"/>
                </a:solidFill>
              </a:rPr>
              <a:t>Lima – San Luis | Sin fines de lucro</a:t>
            </a:r>
          </a:p>
          <a:p>
            <a:pPr algn="l">
              <a:buNone/>
            </a:pPr>
            <a:r>
              <a:rPr lang="es-PE" sz="880" dirty="0">
                <a:solidFill>
                  <a:srgbClr val="333333"/>
                </a:solidFill>
              </a:rPr>
              <a:t>✅ Financia. mixto: SIS + donaciones</a:t>
            </a:r>
          </a:p>
          <a:p>
            <a:pPr algn="l">
              <a:buNone/>
            </a:pPr>
            <a:r>
              <a:rPr lang="es-PE" sz="880" dirty="0">
                <a:solidFill>
                  <a:srgbClr val="333333"/>
                </a:solidFill>
              </a:rPr>
              <a:t>✅ Referente histórico de salud privada con misión social en Lima</a:t>
            </a:r>
          </a:p>
        </p:txBody>
      </p:sp>
      <p:sp>
        <p:nvSpPr>
          <p:cNvPr id="7" name="Card4"/>
          <p:cNvSpPr/>
          <p:nvPr/>
        </p:nvSpPr>
        <p:spPr>
          <a:xfrm>
            <a:off x="5886900" y="2913000"/>
            <a:ext cx="3143000" cy="1829600"/>
          </a:xfrm>
          <a:prstGeom prst="rect">
            <a:avLst/>
          </a:prstGeom>
          <a:solidFill>
            <a:srgbClr val="EEF3FA"/>
          </a:solidFill>
          <a:ln w="19050">
            <a:solidFill>
              <a:srgbClr val="4A6FA5"/>
            </a:solidFill>
          </a:ln>
        </p:spPr>
        <p:txBody>
          <a:bodyPr wrap="square" lIns="91440" tIns="91440" rIns="91440" bIns="91440"/>
          <a:lstStyle/>
          <a:p>
            <a:pPr algn="ctr">
              <a:buNone/>
            </a:pPr>
            <a:r>
              <a:rPr lang="es-PE" sz="1200" b="1" dirty="0">
                <a:solidFill>
                  <a:srgbClr val="1B2A4A"/>
                </a:solidFill>
              </a:rPr>
              <a:t>🌎 Red Privada + Isapres</a:t>
            </a:r>
          </a:p>
          <a:p>
            <a:pPr algn="ctr">
              <a:buNone/>
            </a:pPr>
            <a:r>
              <a:rPr lang="es-PE" sz="950" b="1" dirty="0">
                <a:solidFill>
                  <a:srgbClr val="4A6FA5"/>
                </a:solidFill>
              </a:rPr>
              <a:t>Chile – Referente regional OCDE</a:t>
            </a:r>
          </a:p>
          <a:p>
            <a:pPr algn="l">
              <a:buNone/>
            </a:pPr>
            <a:r>
              <a:rPr lang="es-PE" sz="880" dirty="0">
                <a:solidFill>
                  <a:srgbClr val="333333"/>
                </a:solidFill>
              </a:rPr>
              <a:t>✅ Complementación público-privada</a:t>
            </a:r>
          </a:p>
          <a:p>
            <a:pPr algn="l">
              <a:buNone/>
            </a:pPr>
            <a:r>
              <a:rPr lang="es-PE" sz="880" dirty="0">
                <a:solidFill>
                  <a:srgbClr val="333333"/>
                </a:solidFill>
              </a:rPr>
              <a:t>✅ Red privada llega a zonas periféricas con seguros mixtos obligatorios</a:t>
            </a:r>
          </a:p>
          <a:p>
            <a:pPr algn="l">
              <a:buNone/>
            </a:pPr>
            <a:r>
              <a:rPr lang="es-PE" sz="880" dirty="0">
                <a:solidFill>
                  <a:srgbClr val="333333"/>
                </a:solidFill>
              </a:rPr>
              <a:t>✅ Reduce listas de espera en zonas periféricas (OCDE, 2025)</a:t>
            </a:r>
          </a:p>
        </p:txBody>
      </p:sp>
      <p:sp>
        <p:nvSpPr>
          <p:cNvPr id="8" name="Conclusion"/>
          <p:cNvSpPr/>
          <p:nvPr/>
        </p:nvSpPr>
        <p:spPr>
          <a:xfrm>
            <a:off x="114300" y="4800600"/>
            <a:ext cx="8915400" cy="2857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lIns="91440" rIns="91440" anchor="ctr"/>
          <a:lstStyle/>
          <a:p>
            <a:pPr algn="ctr">
              <a:buNone/>
            </a:pPr>
            <a:r>
              <a:rPr lang="es-PE" sz="1000" b="1" dirty="0">
                <a:solidFill>
                  <a:srgbClr val="FFFFFF"/>
                </a:solidFill>
              </a:rPr>
              <a:t>El modelo ya funciona en Lima Norte, Lima Centro y Lima Este. Lima Sur es el eslabón faltante — la brecha está confirmada.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9">
            <a:extLst>
              <a:ext uri="{FF2B5EF4-FFF2-40B4-BE49-F238E27FC236}">
                <a16:creationId xmlns:a16="http://schemas.microsoft.com/office/drawing/2014/main" id="{971C756D-4F8C-426B-4A6F-179DF78AD525}"/>
              </a:ext>
            </a:extLst>
          </p:cNvPr>
          <p:cNvSpPr/>
          <p:nvPr/>
        </p:nvSpPr>
        <p:spPr>
          <a:xfrm>
            <a:off x="6457069" y="2104240"/>
            <a:ext cx="2114531" cy="730104"/>
          </a:xfrm>
          <a:prstGeom prst="rect">
            <a:avLst/>
          </a:prstGeom>
          <a:solidFill>
            <a:srgbClr val="1D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4C0B872A-96CE-0166-8BB1-A41CD370661D}"/>
              </a:ext>
            </a:extLst>
          </p:cNvPr>
          <p:cNvSpPr/>
          <p:nvPr/>
        </p:nvSpPr>
        <p:spPr>
          <a:xfrm>
            <a:off x="6457070" y="3077664"/>
            <a:ext cx="2139065" cy="817640"/>
          </a:xfrm>
          <a:prstGeom prst="rect">
            <a:avLst/>
          </a:prstGeom>
          <a:solidFill>
            <a:srgbClr val="1D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EEF783D1-A90E-E6DF-F494-C84E4340D6C3}"/>
              </a:ext>
            </a:extLst>
          </p:cNvPr>
          <p:cNvSpPr/>
          <p:nvPr/>
        </p:nvSpPr>
        <p:spPr>
          <a:xfrm>
            <a:off x="6457071" y="4130688"/>
            <a:ext cx="2114530" cy="825280"/>
          </a:xfrm>
          <a:prstGeom prst="rect">
            <a:avLst/>
          </a:prstGeom>
          <a:solidFill>
            <a:srgbClr val="1D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8EB283E8-13AD-5B10-F71D-1BAC09696EC2}"/>
              </a:ext>
            </a:extLst>
          </p:cNvPr>
          <p:cNvSpPr/>
          <p:nvPr/>
        </p:nvSpPr>
        <p:spPr>
          <a:xfrm>
            <a:off x="6481605" y="1066280"/>
            <a:ext cx="2114530" cy="729808"/>
          </a:xfrm>
          <a:prstGeom prst="rect">
            <a:avLst/>
          </a:prstGeom>
          <a:solidFill>
            <a:srgbClr val="1D5F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1" y="10515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Lima Sur tiene el menor promedio de establecimientos de salud por distrito (112 vs 224 en Lima Centro), evidenciando una brecha estructural.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48640" cy="54864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828800"/>
            <a:ext cx="49834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Lima Sur tiene solo 3,6% de hospitalizaciones de Lima (113,766) pero 12,2% de emergencias (1,315,106): ratio 11,6x, la mayor brecha de toda Lima Metropolitana.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49834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Lima Sur tiene 372,601 camas operativas (la menor zona) y tasa de ocupación global del 66,9 % —la más baja de Lima por escasez de oferta privada formalizada—, con Callao en zona crítica (80,5 %).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383280"/>
            <a:ext cx="49834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Las clínicas privadas se concentran en Lima Centro (Miraflores, San Isidro, San Borja), dejando Lima Sur prácticamente sin competencia formal.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60520"/>
            <a:ext cx="49834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Lima Sur es la zona más viable: la ruta de expansión de Clínica Aviva cubre Lima Norte, Centro y Este, pero no Lima Sur — la brecha está confirmada.</a:t>
            </a:r>
            <a:endParaRPr lang="en-US" sz="11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889ABBB6-0535-4EA9-1C10-35938DF2BD3C}"/>
              </a:ext>
            </a:extLst>
          </p:cNvPr>
          <p:cNvSpPr/>
          <p:nvPr/>
        </p:nvSpPr>
        <p:spPr>
          <a:xfrm>
            <a:off x="6949440" y="987200"/>
            <a:ext cx="199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AFDA"/>
                </a:solidFill>
              </a:rPr>
              <a:t>~2M</a:t>
            </a:r>
            <a:endParaRPr lang="en-US" sz="30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0E923C42-324B-8712-5452-43C9E29A6CB6}"/>
              </a:ext>
            </a:extLst>
          </p:cNvPr>
          <p:cNvSpPr/>
          <p:nvPr/>
        </p:nvSpPr>
        <p:spPr>
          <a:xfrm>
            <a:off x="6827040" y="1485052"/>
            <a:ext cx="19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habitantes en Lima Sur</a:t>
            </a:r>
            <a:endParaRPr lang="en-US" sz="11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1A4D3E50-F40B-762A-9DA0-E5B7CDC1AFDC}"/>
              </a:ext>
            </a:extLst>
          </p:cNvPr>
          <p:cNvSpPr/>
          <p:nvPr/>
        </p:nvSpPr>
        <p:spPr>
          <a:xfrm>
            <a:off x="6949440" y="2011328"/>
            <a:ext cx="199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AFDA"/>
                </a:solidFill>
              </a:rPr>
              <a:t>1,348</a:t>
            </a:r>
            <a:endParaRPr lang="en-US" sz="3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94780D50-067E-30E1-6C09-4E3010C4EE48}"/>
              </a:ext>
            </a:extLst>
          </p:cNvPr>
          <p:cNvSpPr/>
          <p:nvPr/>
        </p:nvSpPr>
        <p:spPr>
          <a:xfrm>
            <a:off x="6764040" y="2517816"/>
            <a:ext cx="19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establecimientos de salud</a:t>
            </a:r>
            <a:endParaRPr lang="en-US" sz="11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8F8ABB91-1E84-63F4-C0FE-6F0A361D1134}"/>
              </a:ext>
            </a:extLst>
          </p:cNvPr>
          <p:cNvSpPr/>
          <p:nvPr/>
        </p:nvSpPr>
        <p:spPr>
          <a:xfrm>
            <a:off x="6949440" y="3035456"/>
            <a:ext cx="199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AFDA"/>
                </a:solidFill>
              </a:rPr>
              <a:t>1,315K</a:t>
            </a:r>
            <a:endParaRPr lang="en-US" sz="30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80B5EC1-E423-933E-A0FB-5C2FEEECD306}"/>
              </a:ext>
            </a:extLst>
          </p:cNvPr>
          <p:cNvSpPr/>
          <p:nvPr/>
        </p:nvSpPr>
        <p:spPr>
          <a:xfrm>
            <a:off x="6575454" y="3554534"/>
            <a:ext cx="19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emergencias anuales Lima Sur</a:t>
            </a:r>
            <a:endParaRPr lang="en-US" sz="11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A7728FE9-7005-3E23-1216-F226645EC4F3}"/>
              </a:ext>
            </a:extLst>
          </p:cNvPr>
          <p:cNvSpPr/>
          <p:nvPr/>
        </p:nvSpPr>
        <p:spPr>
          <a:xfrm>
            <a:off x="6949440" y="4059584"/>
            <a:ext cx="199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BAFDA"/>
                </a:solidFill>
              </a:rPr>
              <a:t>73,945</a:t>
            </a:r>
            <a:endParaRPr lang="en-US" sz="30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23336456-DEB8-5E61-E9C4-EE5A5A65D721}"/>
              </a:ext>
            </a:extLst>
          </p:cNvPr>
          <p:cNvSpPr/>
          <p:nvPr/>
        </p:nvSpPr>
        <p:spPr>
          <a:xfrm>
            <a:off x="6949440" y="4580792"/>
            <a:ext cx="199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camas operativas (VES)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FUENTES DE INFORMACIÓN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4864" cy="18288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SUSALUD (2024–2025). Datos de Prestaciones de Salud por Distrito y Zona Lima – RENIPRESS. Superintendencia Nacional de Salud. Lima, Perú.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408176"/>
            <a:ext cx="54864" cy="18288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INEI (2023). Perú: Estimaciones y Proyecciones de Población por Departamento, Provincia y Distrito 2018–2025. Instituto Nacional de Estadística e Informática.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" y="1932198"/>
            <a:ext cx="54864" cy="18288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02920" y="18562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COMEXPERU (2024). Situación Actual del Sistema de Salud Peruano. Sociedad de Comercio Exterior del Perú.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" y="2421051"/>
            <a:ext cx="54864" cy="18288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539496" y="2338755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TMS / Gestión (2024). Clínicas de Lima: Radiografía del Negocio 2024. Gestión.pe, 22 de marzo de 2024.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2913" y="2967579"/>
            <a:ext cx="54864" cy="18288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502920" y="285257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REUNIS – MINSA (2024). Repositorio Único Nacional de Información en Salud. https://www.minsa.gob.pe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2362" y="3514107"/>
            <a:ext cx="54864" cy="18288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502920" y="3431811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Amnistía Internacional (2024). Fragmentación en Sistema de Salud – Brechas y Desigualdad. Lima, octubre 2024.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>
              <a:alpha val="70000"/>
            </a:srgbClr>
          </a:solidFill>
          <a:ln/>
        </p:spPr>
        <p:txBody>
          <a:bodyPr/>
          <a:lstStyle/>
          <a:p>
            <a:endParaRPr lang="es-PE" dirty="0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9144000" cy="45720"/>
          </a:xfrm>
          <a:prstGeom prst="rect">
            <a:avLst/>
          </a:prstGeom>
          <a:solidFill>
            <a:srgbClr val="1B8CA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"PORQUE LA SALUD DE CALIDAD NO DEBE SER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UN PRIVILEGIO, SINO UN DERECHO ACCESIBLE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PARA TODOS."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BAFDA"/>
                </a:solidFill>
              </a:rPr>
              <a:t>Lima Sur: donde la necesidad es mayor y la oportunidad, también.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1432</Words>
  <Application>Microsoft Office PowerPoint</Application>
  <PresentationFormat>Presentación en pantalla (16:9)</PresentationFormat>
  <Paragraphs>263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Viabilidad de Apertura - Lima Sur</dc:title>
  <dc:subject>PptxGenJS Presentation</dc:subject>
  <dc:creator>PptxGenJS</dc:creator>
  <cp:lastModifiedBy>ricardo valverde puma</cp:lastModifiedBy>
  <cp:revision>13</cp:revision>
  <dcterms:created xsi:type="dcterms:W3CDTF">2026-03-08T16:30:54Z</dcterms:created>
  <dcterms:modified xsi:type="dcterms:W3CDTF">2026-05-07T17:27:57Z</dcterms:modified>
</cp:coreProperties>
</file>